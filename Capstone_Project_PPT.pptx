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7"/>
  </p:notesMasterIdLst>
  <p:sldIdLst>
    <p:sldId id="1300" r:id="rId5"/>
    <p:sldId id="1349" r:id="rId6"/>
    <p:sldId id="1291" r:id="rId7"/>
    <p:sldId id="1350" r:id="rId8"/>
    <p:sldId id="1351" r:id="rId9"/>
    <p:sldId id="1352" r:id="rId10"/>
    <p:sldId id="1353" r:id="rId11"/>
    <p:sldId id="1358" r:id="rId12"/>
    <p:sldId id="1354" r:id="rId13"/>
    <p:sldId id="1355" r:id="rId14"/>
    <p:sldId id="1356" r:id="rId15"/>
    <p:sldId id="1250" r:id="rId16"/>
  </p:sldIdLst>
  <p:sldSz cx="12192000" cy="6858000"/>
  <p:notesSz cx="6858000" cy="9144000"/>
  <p:custDataLst>
    <p:tags r:id="rId1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EFF"/>
    <a:srgbClr val="F9FFEB"/>
    <a:srgbClr val="EDFFC5"/>
    <a:srgbClr val="7FBA00"/>
    <a:srgbClr val="EBEEF9"/>
    <a:srgbClr val="213164"/>
    <a:srgbClr val="FED500"/>
    <a:srgbClr val="484F9E"/>
    <a:srgbClr val="F6AB1B"/>
    <a:srgbClr val="F7BA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1482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9783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D97FCEE-C2A8-37D5-A996-49BB545B3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975B8980-94AA-8A6F-430D-0494B7C176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A7D6731-161F-2215-BDD4-38D7B762C4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4211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B634D27-F068-EBEB-8770-15B1970F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EC7E5E5-08B1-E327-1392-BDBF84524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962BD9A5-ADCC-1A80-1BEB-CABC569E0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7319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C7FEBF0-06E5-C2B8-032E-BD1140EC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1C6BB7A9-64CC-4552-CA05-10714EF8D5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96E12A9-0FB9-1C33-EAD4-8BC34D67D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0100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912BB92-19C5-FEAF-8CF0-0A26FF15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D21BCEAF-EE14-3457-B94E-B4E055AD9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E33C037B-43A5-DBE4-60BB-7D8372DCD2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6139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05ABAFC-C9BD-AB1E-8A8A-9EDC5568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CC989CB-9A3F-2F71-382B-9645325FE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1EAE55A1-FB6B-6141-FCEA-50C1C0732E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7441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E97757C-C9C8-D062-5A0A-E627466A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5EFC4385-9F62-DE91-1C49-25EFFAA507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3177FAE6-75CC-FEF9-3CAC-8FE5239D6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7390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4F84F44-6F11-41C0-2531-B2D84004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CFFEF418-B406-D0A7-8310-136EE4643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C7A9698E-E051-C03D-505A-30B549F0D0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060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2949AFF-78D6-50DA-B607-940763F2C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7361DAE3-574F-2869-A475-53A418F0F3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4598F59E-E26E-B08C-63A5-3796B2189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4077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839BF32-23F1-0514-1672-5AE4AB50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EF06C08A-200A-0E8C-55D0-5D4BC07B5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C29C00B7-3928-D803-DCB2-F342254D8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3277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 dirty="0">
                <a:solidFill>
                  <a:srgbClr val="223366"/>
                </a:solidFill>
              </a:rPr>
              <a:t>Thank You !!</a:t>
            </a:r>
            <a:endParaRPr lang="en-US" sz="1100" b="1" spc="-5" dirty="0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8C18A-94E2-AE13-8B06-BA9F6BD6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8089E-5BFA-40F0-B876-ADFE03496B7F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E892B4-0FB0-425D-7C43-06BB328A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29878-4D45-882F-621F-195E0CE49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122C-94FD-45B7-812A-8C690DBDD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53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8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82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51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19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42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83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 userDrawn="1"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 userDrawn="1"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 userDrawn="1"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2540B31-8123-24C6-B0F3-4444B51E9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32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9AA95F-56F4-3F03-5804-8F7C6AFCE0BB}"/>
              </a:ext>
            </a:extLst>
          </p:cNvPr>
          <p:cNvSpPr/>
          <p:nvPr/>
        </p:nvSpPr>
        <p:spPr>
          <a:xfrm>
            <a:off x="8687544" y="584200"/>
            <a:ext cx="2110444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95316D-1E70-9E4D-C82D-DC6493EC4CED}"/>
              </a:ext>
            </a:extLst>
          </p:cNvPr>
          <p:cNvSpPr txBox="1"/>
          <p:nvPr/>
        </p:nvSpPr>
        <p:spPr>
          <a:xfrm>
            <a:off x="4236720" y="2008766"/>
            <a:ext cx="723392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</a:rPr>
              <a:t>Climate Resilient Agriculture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2A27540A-9E08-71C9-C49B-6AA04DE6EB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943" y="867733"/>
            <a:ext cx="1263157" cy="4108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C3452E-282B-E1CE-1049-3451E4122F16}"/>
              </a:ext>
            </a:extLst>
          </p:cNvPr>
          <p:cNvSpPr txBox="1"/>
          <p:nvPr/>
        </p:nvSpPr>
        <p:spPr>
          <a:xfrm>
            <a:off x="4876800" y="3065654"/>
            <a:ext cx="6760951" cy="23830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Team Leader: </a:t>
            </a:r>
            <a:r>
              <a:rPr lang="en-IN" dirty="0" err="1">
                <a:solidFill>
                  <a:schemeClr val="bg1"/>
                </a:solidFill>
              </a:rPr>
              <a:t>Shambharkar</a:t>
            </a:r>
            <a:r>
              <a:rPr lang="en-IN" dirty="0">
                <a:solidFill>
                  <a:schemeClr val="bg1"/>
                </a:solidFill>
              </a:rPr>
              <a:t> Tanmay</a:t>
            </a:r>
          </a:p>
          <a:p>
            <a:r>
              <a:rPr lang="en-IN" dirty="0">
                <a:solidFill>
                  <a:schemeClr val="bg1"/>
                </a:solidFill>
              </a:rPr>
              <a:t>1)</a:t>
            </a:r>
            <a:r>
              <a:rPr lang="en-IN" dirty="0" err="1">
                <a:solidFill>
                  <a:schemeClr val="bg1"/>
                </a:solidFill>
              </a:rPr>
              <a:t>Devkate</a:t>
            </a:r>
            <a:r>
              <a:rPr lang="en-IN" dirty="0">
                <a:solidFill>
                  <a:schemeClr val="bg1"/>
                </a:solidFill>
              </a:rPr>
              <a:t> Vishal</a:t>
            </a:r>
          </a:p>
          <a:p>
            <a:r>
              <a:rPr lang="en-IN" sz="1850" dirty="0">
                <a:solidFill>
                  <a:schemeClr val="bg1"/>
                </a:solidFill>
              </a:rPr>
              <a:t>2)Raika Pramila</a:t>
            </a:r>
          </a:p>
          <a:p>
            <a:r>
              <a:rPr lang="en-IN" sz="1850" dirty="0">
                <a:solidFill>
                  <a:schemeClr val="bg1"/>
                </a:solidFill>
              </a:rPr>
              <a:t>3)Pawar Darshana</a:t>
            </a:r>
          </a:p>
          <a:p>
            <a:endParaRPr lang="en-IN" sz="1850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                                     </a:t>
            </a:r>
            <a:r>
              <a:rPr lang="en-IN" b="1" dirty="0">
                <a:solidFill>
                  <a:schemeClr val="bg1"/>
                </a:solidFill>
              </a:rPr>
              <a:t>Mentor Name: </a:t>
            </a:r>
            <a:r>
              <a:rPr lang="en-IN" dirty="0">
                <a:solidFill>
                  <a:schemeClr val="bg1"/>
                </a:solidFill>
              </a:rPr>
              <a:t>Mr. Mario Thokchom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College Name </a:t>
            </a:r>
            <a:r>
              <a:rPr lang="en-IN" dirty="0">
                <a:solidFill>
                  <a:schemeClr val="bg1"/>
                </a:solidFill>
              </a:rPr>
              <a:t>– PES Modern College Of Engineering, Pune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095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82100C0-8C1F-4181-DD75-D87774F4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DF1CE7-F465-D81C-97B0-79E3F2480924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583006E0-F63C-4BA4-389D-C91A4075610B}"/>
              </a:ext>
            </a:extLst>
          </p:cNvPr>
          <p:cNvSpPr txBox="1">
            <a:spLocks noGrp="1"/>
          </p:cNvSpPr>
          <p:nvPr/>
        </p:nvSpPr>
        <p:spPr>
          <a:xfrm>
            <a:off x="407838" y="873305"/>
            <a:ext cx="5025142" cy="68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 b="1">
                <a:solidFill>
                  <a:srgbClr val="213163"/>
                </a:solidFill>
              </a:rPr>
              <a:t>Project Objectives</a:t>
            </a:r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668EA-F609-4C8E-7E33-C8D4F3A3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265" y="1124611"/>
            <a:ext cx="4602826" cy="4613712"/>
          </a:xfrm>
          <a:prstGeom prst="rect">
            <a:avLst/>
          </a:prstGeom>
        </p:spPr>
      </p:pic>
      <p:sp>
        <p:nvSpPr>
          <p:cNvPr id="8" name="Google Shape;62;g5fab984687_2_0">
            <a:extLst>
              <a:ext uri="{FF2B5EF4-FFF2-40B4-BE49-F238E27FC236}">
                <a16:creationId xmlns:a16="http://schemas.microsoft.com/office/drawing/2014/main" id="{761FE11B-F08F-EA24-6ECA-6D0A1BF1E903}"/>
              </a:ext>
            </a:extLst>
          </p:cNvPr>
          <p:cNvSpPr txBox="1"/>
          <p:nvPr/>
        </p:nvSpPr>
        <p:spPr>
          <a:xfrm>
            <a:off x="407838" y="1715981"/>
            <a:ext cx="5369163" cy="318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Problem Statement</a:t>
            </a:r>
            <a:endParaRPr lang="en-US" sz="1100"/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Project Overview – Introduction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End Users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Wow Factor in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Modelling/Block Diagram/Flow of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Result/outcomes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Conclusion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Future Perspective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442668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212231" y="1486505"/>
            <a:ext cx="10628489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Problem Statement: 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r>
              <a:rPr lang="en-US" sz="2000" b="1" dirty="0">
                <a:solidFill>
                  <a:srgbClr val="213163"/>
                </a:solidFill>
              </a:rPr>
              <a:t>To develop a machine learning model that predicts crop yield by integrating climate, soil, water, and pollution factors for climate-resilient agriculture.</a:t>
            </a:r>
            <a:r>
              <a:rPr lang="en-IN" sz="2000" b="1" dirty="0">
                <a:solidFill>
                  <a:srgbClr val="213163"/>
                </a:solidFill>
              </a:rPr>
              <a:t> </a:t>
            </a:r>
            <a:endParaRPr lang="en-US" sz="18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3DDF4-499A-7575-15C8-177D240152F8}"/>
              </a:ext>
            </a:extLst>
          </p:cNvPr>
          <p:cNvSpPr txBox="1"/>
          <p:nvPr/>
        </p:nvSpPr>
        <p:spPr>
          <a:xfrm>
            <a:off x="3423920" y="792480"/>
            <a:ext cx="552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213163"/>
                </a:solidFill>
              </a:rPr>
              <a:t>Climate Resilient Agriculture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CFA96E3-C7EB-55DF-2AA8-2936B30A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BEBBBA-5CF4-5202-786C-054FC76F51FF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Project Overview - Introduction</a:t>
            </a:r>
            <a:endParaRPr lang="en-US" sz="18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774B7-EDC9-F9BA-B65D-B029F4A3B992}"/>
              </a:ext>
            </a:extLst>
          </p:cNvPr>
          <p:cNvSpPr txBox="1"/>
          <p:nvPr/>
        </p:nvSpPr>
        <p:spPr>
          <a:xfrm>
            <a:off x="883920" y="1452880"/>
            <a:ext cx="10271760" cy="4298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Climate-resilient agriculture is essential to sustain crop productivity under changing environmental conditions. This project develops a machine learning–based system to predict crop yield using climate, soil, water, and pollution parameters.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Focuses on climate-resilient agriculture through data-driven yield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Integrates climate, soil, water, and pollution parameters in a single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Uses machine learning techniques (Random Forest &amp; </a:t>
            </a:r>
            <a:r>
              <a:rPr lang="en-US" sz="2000" dirty="0" err="1"/>
              <a:t>XGBoost</a:t>
            </a:r>
            <a:r>
              <a:rPr lang="en-US" sz="2000" dirty="0"/>
              <a:t>) for accurate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Analyzes the impact of climate stress factors such as heatwaves and dry spells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Supports sustainable agricultural planning and decision-making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9474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2ED5FB8-425A-4665-42F5-5CC706CCA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9B8291-8A2E-40AC-9C88-A70F47D7B60C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End Users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FE3488-654A-8698-6FCD-64248478C323}"/>
              </a:ext>
            </a:extLst>
          </p:cNvPr>
          <p:cNvSpPr txBox="1"/>
          <p:nvPr/>
        </p:nvSpPr>
        <p:spPr>
          <a:xfrm>
            <a:off x="1127760" y="1747520"/>
            <a:ext cx="48158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Farmers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Agricultural extension services</a:t>
            </a:r>
          </a:p>
          <a:p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Government &amp; policy makers</a:t>
            </a:r>
          </a:p>
          <a:p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Researchers and </a:t>
            </a:r>
            <a:r>
              <a:rPr lang="en-US" sz="2200" b="1" dirty="0" err="1"/>
              <a:t>agri</a:t>
            </a:r>
            <a:r>
              <a:rPr lang="en-US" sz="2200" b="1" dirty="0"/>
              <a:t>-tech developers</a:t>
            </a:r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328434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3201705-0A2B-4BCF-297B-D9722E1CC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5BFC9B-AE6E-0231-F153-9FA6A53336DE}"/>
              </a:ext>
            </a:extLst>
          </p:cNvPr>
          <p:cNvSpPr txBox="1"/>
          <p:nvPr/>
        </p:nvSpPr>
        <p:spPr>
          <a:xfrm>
            <a:off x="202071" y="972537"/>
            <a:ext cx="7529689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Wow Factors in Project:</a:t>
            </a:r>
          </a:p>
          <a:p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719D6-E0A9-DA70-D2BC-278498CFEF82}"/>
              </a:ext>
            </a:extLst>
          </p:cNvPr>
          <p:cNvSpPr txBox="1"/>
          <p:nvPr/>
        </p:nvSpPr>
        <p:spPr>
          <a:xfrm>
            <a:off x="579120" y="1680423"/>
            <a:ext cx="10027920" cy="4688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Integrated multi-domain data:</a:t>
            </a:r>
          </a:p>
          <a:p>
            <a:r>
              <a:rPr lang="en-US" sz="2000" dirty="0">
                <a:solidFill>
                  <a:schemeClr val="tx1"/>
                </a:solidFill>
              </a:rPr>
              <a:t>Combines climate, soil, water, pollution, and agricultural parameters in a single predictive model.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Climate-resilience focused prediction:</a:t>
            </a:r>
          </a:p>
          <a:p>
            <a:r>
              <a:rPr lang="en-US" sz="2000" dirty="0">
                <a:solidFill>
                  <a:schemeClr val="tx1"/>
                </a:solidFill>
              </a:rPr>
              <a:t>Goes beyond yield prediction by analyzing the impact of climate stress factors like heatwaves and dry spells.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Advanced machine learning models:</a:t>
            </a:r>
          </a:p>
          <a:p>
            <a:r>
              <a:rPr lang="en-US" sz="2000" dirty="0">
                <a:solidFill>
                  <a:schemeClr val="tx1"/>
                </a:solidFill>
              </a:rPr>
              <a:t>Uses Random Forest and </a:t>
            </a:r>
            <a:r>
              <a:rPr lang="en-US" sz="2000" dirty="0" err="1">
                <a:solidFill>
                  <a:schemeClr val="tx1"/>
                </a:solidFill>
              </a:rPr>
              <a:t>XGBoost</a:t>
            </a:r>
            <a:r>
              <a:rPr lang="en-US" sz="2000" dirty="0">
                <a:solidFill>
                  <a:schemeClr val="tx1"/>
                </a:solidFill>
              </a:rPr>
              <a:t>, which outperform traditional statistical methods.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Decision-support oriented:</a:t>
            </a:r>
          </a:p>
          <a:p>
            <a:r>
              <a:rPr lang="en-US" sz="2000" dirty="0">
                <a:solidFill>
                  <a:schemeClr val="tx1"/>
                </a:solidFill>
              </a:rPr>
              <a:t>Helps farmers, planners, and policymakers make data-driven, climate-resilient decisions.</a:t>
            </a:r>
            <a:endParaRPr lang="en-IN" sz="2000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32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DA83078-77BF-8732-F35D-B5E0418E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3A1D2-BA94-C28C-CC33-20F2A8CBF8E6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Modelling/Block Diagram/Flow of Project</a:t>
            </a:r>
            <a:endParaRPr lang="en-US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516E06DA-8D53-B381-D61B-5314306C86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2C5AFC-7149-00C4-3BB2-67A6BC1C7F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4" t="7927" b="14634"/>
          <a:stretch>
            <a:fillRect/>
          </a:stretch>
        </p:blipFill>
        <p:spPr>
          <a:xfrm>
            <a:off x="1209040" y="1635760"/>
            <a:ext cx="10030460" cy="413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16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99CD92D-A575-8307-4352-F0BA81EB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FF50A4-5ED8-3FB1-7BC6-C928C539FDC4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Technology Stack: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DD66DC-9647-6E2B-7D17-CE8CE02BD448}"/>
              </a:ext>
            </a:extLst>
          </p:cNvPr>
          <p:cNvSpPr/>
          <p:nvPr/>
        </p:nvSpPr>
        <p:spPr>
          <a:xfrm>
            <a:off x="2080451" y="1960132"/>
            <a:ext cx="3159943" cy="1868111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IN" sz="2000" b="1" dirty="0"/>
              <a:t>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Core Programming Language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D52E6E-5E35-92E0-676D-4B99B09189B3}"/>
              </a:ext>
            </a:extLst>
          </p:cNvPr>
          <p:cNvSpPr/>
          <p:nvPr/>
        </p:nvSpPr>
        <p:spPr>
          <a:xfrm>
            <a:off x="6645112" y="1960132"/>
            <a:ext cx="2865120" cy="18559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IN" b="1" dirty="0"/>
              <a:t>Python Libraries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Pandas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 err="1"/>
              <a:t>Numpy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Matplotlib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Seaborn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Scikit-Learn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1654C7-28F4-18D2-0840-009C8DBC59F7}"/>
              </a:ext>
            </a:extLst>
          </p:cNvPr>
          <p:cNvSpPr/>
          <p:nvPr/>
        </p:nvSpPr>
        <p:spPr>
          <a:xfrm>
            <a:off x="6645112" y="4415729"/>
            <a:ext cx="3068320" cy="186811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IN" b="1" dirty="0"/>
              <a:t>Algorithms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 err="1"/>
              <a:t>RandomForest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 err="1"/>
              <a:t>XGBoost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D1565B-574E-6975-67E6-1A7F67FE70AD}"/>
              </a:ext>
            </a:extLst>
          </p:cNvPr>
          <p:cNvSpPr/>
          <p:nvPr/>
        </p:nvSpPr>
        <p:spPr>
          <a:xfrm>
            <a:off x="2143761" y="4415729"/>
            <a:ext cx="3033324" cy="186811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IN" dirty="0"/>
              <a:t>Model Handling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dirty="0" err="1"/>
              <a:t>Joblib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8566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514D052-F397-BC36-1052-36D19CF59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5B80B1-3B59-EA2F-68D8-475020EC920F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Result/Outcomes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A2BD4B-9E2C-DEF7-F014-75F313267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704336"/>
            <a:ext cx="5397910" cy="44026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F731E2-C46B-3D14-DE44-E32C1BB42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508" y="3668234"/>
            <a:ext cx="5643717" cy="31090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B454BFB-54B0-1420-E286-A89C291D0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509" y="776748"/>
            <a:ext cx="5643716" cy="280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53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2F31CEF-5515-4F5D-1100-281FEB2D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7B0A38-E51F-FAB3-43A3-E6F66F53FEEB}"/>
              </a:ext>
            </a:extLst>
          </p:cNvPr>
          <p:cNvSpPr txBox="1"/>
          <p:nvPr/>
        </p:nvSpPr>
        <p:spPr>
          <a:xfrm>
            <a:off x="191909" y="844876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Conclusion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52F27A-9CB5-3286-036F-73591ECED097}"/>
              </a:ext>
            </a:extLst>
          </p:cNvPr>
          <p:cNvSpPr txBox="1"/>
          <p:nvPr/>
        </p:nvSpPr>
        <p:spPr>
          <a:xfrm>
            <a:off x="733647" y="1881963"/>
            <a:ext cx="9154632" cy="3072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8C5FF67-EEEF-63E8-F17A-05F43F001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996" y="1382721"/>
            <a:ext cx="9867013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transformation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yield distribution and model stability.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models (Random Forest)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effectively captured non-linear climate–yield relationships.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risk identification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supporting climate-resilient agricultural planning.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 yield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strongly influenced by climate stress factors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heatwaves, dry spells, and rainfall variability.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Yield data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variability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extreme climate events leading to significant productivity loss.</a:t>
            </a:r>
          </a:p>
        </p:txBody>
      </p:sp>
    </p:spTree>
    <p:extLst>
      <p:ext uri="{BB962C8B-B14F-4D97-AF65-F5344CB8AC3E}">
        <p14:creationId xmlns:p14="http://schemas.microsoft.com/office/powerpoint/2010/main" val="154726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D19869F-96B9-5203-AAF3-45AE6C4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0D9D66-F842-8A54-E13C-54231FFCB3A9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Future Perspective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BDB1B6-7167-6065-389D-6A6A23808A87}"/>
              </a:ext>
            </a:extLst>
          </p:cNvPr>
          <p:cNvSpPr txBox="1"/>
          <p:nvPr/>
        </p:nvSpPr>
        <p:spPr>
          <a:xfrm>
            <a:off x="552893" y="2020185"/>
            <a:ext cx="9133367" cy="2301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Integrate </a:t>
            </a:r>
            <a:r>
              <a:rPr lang="en-US" b="1" dirty="0"/>
              <a:t>real-time climate data</a:t>
            </a:r>
            <a:r>
              <a:rPr lang="en-US" dirty="0"/>
              <a:t> from IMD and satellite sources for live yield prediction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Deploy a </a:t>
            </a:r>
            <a:r>
              <a:rPr lang="en-US" b="1" dirty="0"/>
              <a:t>farmer-friendly mobile/web application</a:t>
            </a:r>
            <a:r>
              <a:rPr lang="en-US" dirty="0"/>
              <a:t> for decision support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Incorporate </a:t>
            </a:r>
            <a:r>
              <a:rPr lang="en-US" b="1" dirty="0"/>
              <a:t>early warning alerts</a:t>
            </a:r>
            <a:r>
              <a:rPr lang="en-US" dirty="0"/>
              <a:t> for heatwaves and dry spells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4EBEB-58B9-7517-207B-27CC29D59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167" y="1644737"/>
            <a:ext cx="6177005" cy="419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88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0C30A77F-BE9B-73CB-CC7F-A1F8B5B87AB9}"/>
              </a:ext>
            </a:extLst>
          </p:cNvPr>
          <p:cNvSpPr txBox="1">
            <a:spLocks/>
          </p:cNvSpPr>
          <p:nvPr/>
        </p:nvSpPr>
        <p:spPr>
          <a:xfrm>
            <a:off x="4315206" y="2934286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</TotalTime>
  <Words>433</Words>
  <Application>Microsoft Office PowerPoint</Application>
  <PresentationFormat>Widescreen</PresentationFormat>
  <Paragraphs>83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ASUS</cp:lastModifiedBy>
  <cp:revision>14</cp:revision>
  <dcterms:modified xsi:type="dcterms:W3CDTF">2026-01-13T05:36:45Z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9933309E-0FFA-4A0C-99DC-6F95618B9D68</vt:lpwstr>
  </property>
  <property fmtid="{D5CDD505-2E9C-101B-9397-08002B2CF9AE}" pid="4" name="ArticulatePath">
    <vt:lpwstr>https://edunetfoundationorg-my.sharepoint.com/personal/kaisar_edunetfoundation_org/Documents/Beutified ppt/Microsoft Shell/Skills4Future/Temp</vt:lpwstr>
  </property>
</Properties>
</file>